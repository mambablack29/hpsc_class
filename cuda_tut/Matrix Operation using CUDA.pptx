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3"/>
  </p:sldMasterIdLst>
  <p:sldIdLst>
    <p:sldId id="256" r:id="rId4"/>
    <p:sldId id="257" r:id="rId5"/>
    <p:sldId id="317" r:id="rId6"/>
    <p:sldId id="318" r:id="rId7"/>
    <p:sldId id="287" r:id="rId8"/>
    <p:sldId id="281" r:id="rId9"/>
    <p:sldId id="258" r:id="rId10"/>
    <p:sldId id="319" r:id="rId11"/>
    <p:sldId id="321" r:id="rId12"/>
    <p:sldId id="320" r:id="rId13"/>
    <p:sldId id="289" r:id="rId14"/>
    <p:sldId id="280" r:id="rId15"/>
    <p:sldId id="286" r:id="rId16"/>
  </p:sldIdLst>
  <p:sldSz cx="12192000" cy="6858000"/>
  <p:notesSz cx="67611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B7C66A"/>
    <a:srgbClr val="00CC00"/>
    <a:srgbClr val="00B050"/>
    <a:srgbClr val="FFD966"/>
    <a:srgbClr val="EDF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-53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68779-C599-E9B1-46CC-FF40CB85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7EF6E-4EC9-4CAF-B7A2-B7CFE17518AF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A8EC-321C-AE4D-838B-65AB75F6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9301-231C-B8FE-7B4E-14DCB27F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00B60C-3E29-4AA8-B2F2-BC390DF3E1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40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D9C10-64EB-FE5B-8986-04C24E3B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31DF5-598C-40E8-8F3C-5A8278E770D2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DB8AA-9179-2E2E-B21B-A34D781C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D190C-E1D2-0DCC-222A-A14D29A0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1DEF0-E8E9-4487-840A-131A91EF53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89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75536-4649-1202-9A04-8A9C28E54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C2C81-71E1-4280-8568-86E196A6A327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6E9FFC4-BE03-743C-EBDA-9638D394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FBCCF9F-5B75-CE29-0561-A54BE419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EC5E2D-C908-46EE-9FA5-533562CD11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42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F13E4-B2B8-A6E0-150A-27424FA9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24E3-7111-42B3-AF1A-B12D04AF99A5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1FF2-0B85-7A74-CDE6-BE8D317F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7542D-DCF2-28FB-E3BA-495F42E1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61002-200B-459D-98F6-C8CC0A1560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40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B8D1AD2-480B-77E0-BA70-ADC3D2DB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CB615-438D-4BEB-B3D3-033B3A5A3828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593284-9900-A29D-F6F5-6CCB9D61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CE594D-2629-BC08-7DAF-DAE46B83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1BF06C-8E78-4E09-9CEB-95F0BD70B4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23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39A6806-9D2F-1D64-A6C5-E3FE2B27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5D923-D3D8-48B7-8980-C62559C66B49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109293-E0D5-B495-33DE-DC9D5908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0B87F20-EF4A-B557-F8FC-C8B78DC4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71879-02AB-47BC-AE29-3D3C11BE2E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92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C33894E-7BE5-78D8-24B1-ACD15FF82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2AD6-3377-4673-ACA7-1576C183994B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EE51E83-BD31-0309-1F6B-8D3CEDD7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C81A20-8BC8-9C3D-A10C-C685D8DF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7B2D6-C77B-4629-91C8-D8C7D6AC36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6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6262E0-553F-A39C-3B87-52E053A2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AD6F2-648D-412E-983F-34D0EE748261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170C917-A712-4458-CF3F-48C236FA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9BDF35-FA59-FCE1-E5A6-00C113B6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31EE6-1CA4-423D-8741-E0F820B6E1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890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63CD18C-08AF-7C07-4566-95C41339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5B54A-3D03-42FE-8489-98173103F963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278FC47-A0BE-95C6-2770-60FA49435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C99CB2-95B7-A10F-80BB-3DE7690F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1C98AA-E140-4127-B8A4-F7DEACA3EA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949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8199A9C-EA06-267A-70B1-B85A8254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EBEFB-3726-4103-A885-44DA41A4235D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5785DD-9233-68F3-1F5E-1E6F4C3E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21337A-1D51-357F-13BD-AC24C931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56C62-CCB1-47B3-A364-13655429D8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099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913E6DA-2CE0-EDBA-A515-D16BF6B3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09AB2-4444-4FB0-8113-6A9938D30D0D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344BBAA-4C3A-2A38-8F7B-2C72A1BC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1E4B65-30D0-3850-87CD-B7F56F7A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6306E-CBCD-4E2B-A19A-71D75F4456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358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CD449-F950-99F8-9A7E-0414BE85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24705-2C63-444B-9085-CB758FE7D86B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02FF9-AB37-84E6-5350-751943D5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F68C6-3D28-8AED-A21F-332125F0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C6CAA-8AC6-43BB-882C-06ED494916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82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81E61-8B37-929D-930A-5B368F84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BC77E-8C8F-4DF1-91BF-494B40DFAD8A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DA762-B990-4CB6-11E3-0EA11041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6646-1E79-3975-D088-13472B7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D36D7-ECA5-4CC8-87E5-24D39F03A7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903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C800C-4005-26BB-317A-4DFBDF5C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1D09A-B3D7-485B-8610-CBD936AEBB70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173FC-01E4-69C1-7D32-957764F7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6E54B-1EF6-053D-9403-AB4E4A4A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14733-2558-4844-9225-3C695A798F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1776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464301A-D121-3163-EB6E-63C6BCF44D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7529D6B-A874-1706-942C-6DF2222D6B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FACEB-F258-9EF4-1630-83C33ADE9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7E93E69-BF69-4C92-A249-B7984995E55C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3BFD2-F78F-1099-428D-F9DFBEA8B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A115A-7476-840C-A7FB-EF90D7736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4DD9D61-2E40-47A3-892F-E2F37DB334A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  <p:sldLayoutId id="2147484645" r:id="rId4"/>
    <p:sldLayoutId id="2147484646" r:id="rId5"/>
    <p:sldLayoutId id="2147484647" r:id="rId6"/>
    <p:sldLayoutId id="2147484648" r:id="rId7"/>
    <p:sldLayoutId id="2147484649" r:id="rId8"/>
    <p:sldLayoutId id="2147484650" r:id="rId9"/>
    <p:sldLayoutId id="2147484651" r:id="rId10"/>
    <p:sldLayoutId id="2147484652" r:id="rId11"/>
    <p:sldLayoutId id="2147484653" r:id="rId12"/>
    <p:sldLayoutId id="2147484654" r:id="rId13"/>
    <p:sldLayoutId id="2147484655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ccsgpgpu.web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cuda/cuda-c-best-practices-guide/index.html" TargetMode="External"/><Relationship Id="rId2" Type="http://schemas.openxmlformats.org/officeDocument/2006/relationships/hyperlink" Target="https://docs.nvidia.com/cuda/cuda-c-programming-guide/index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>
            <a:extLst>
              <a:ext uri="{FF2B5EF4-FFF2-40B4-BE49-F238E27FC236}">
                <a16:creationId xmlns:a16="http://schemas.microsoft.com/office/drawing/2014/main" id="{B50DBC3C-7774-8544-CDFB-4B8AC53A9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3306763"/>
            <a:ext cx="1161097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b="1">
                <a:solidFill>
                  <a:srgbClr val="002060"/>
                </a:solidFill>
              </a:rPr>
              <a:t>High Performance</a:t>
            </a:r>
            <a:r>
              <a:rPr lang="bn-IN" altLang="en-US" sz="3600" b="1">
                <a:solidFill>
                  <a:srgbClr val="002060"/>
                </a:solidFill>
                <a:ea typeface="Vrinda" panose="020B0502040204020203" pitchFamily="34" charset="0"/>
              </a:rPr>
              <a:t> </a:t>
            </a:r>
            <a:r>
              <a:rPr lang="en-IN" altLang="en-US" sz="3600" b="1">
                <a:solidFill>
                  <a:srgbClr val="002060"/>
                </a:solidFill>
              </a:rPr>
              <a:t>Scientific</a:t>
            </a:r>
            <a:r>
              <a:rPr lang="en-US" altLang="en-US" sz="3600" b="1">
                <a:solidFill>
                  <a:srgbClr val="002060"/>
                </a:solidFill>
              </a:rPr>
              <a:t> Computing</a:t>
            </a:r>
          </a:p>
          <a:p>
            <a:r>
              <a:rPr lang="en-US" altLang="en-US" sz="2400" b="1">
                <a:solidFill>
                  <a:srgbClr val="002060"/>
                </a:solidFill>
              </a:rPr>
              <a:t>SOMNATH ROY</a:t>
            </a:r>
          </a:p>
          <a:p>
            <a:r>
              <a:rPr lang="en-US" altLang="en-US" sz="2400" b="1">
                <a:solidFill>
                  <a:srgbClr val="002060"/>
                </a:solidFill>
              </a:rPr>
              <a:t>MECHANICAL ENGINEERING DEPARTMENT, IIT KHARAGPUR</a:t>
            </a:r>
          </a:p>
          <a:p>
            <a:r>
              <a:rPr lang="en-US" altLang="en-US" sz="2400" b="1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CB87E-774D-0510-9AD5-89C278C1380E}"/>
              </a:ext>
            </a:extLst>
          </p:cNvPr>
          <p:cNvSpPr txBox="1"/>
          <p:nvPr/>
        </p:nvSpPr>
        <p:spPr>
          <a:xfrm>
            <a:off x="514350" y="5227638"/>
            <a:ext cx="11415713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Module : GPU Computing</a:t>
            </a:r>
          </a:p>
          <a:p>
            <a:pPr>
              <a:defRPr/>
            </a:pPr>
            <a:r>
              <a:rPr lang="en-US" sz="2400" b="1" dirty="0"/>
              <a:t>Lecture : Matrix multiplications in CUDA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>
            <a:extLst>
              <a:ext uri="{FF2B5EF4-FFF2-40B4-BE49-F238E27FC236}">
                <a16:creationId xmlns:a16="http://schemas.microsoft.com/office/drawing/2014/main" id="{F968BDE5-23CC-6CD8-DE72-EDE40E6A8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873125"/>
            <a:ext cx="620871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400">
                <a:solidFill>
                  <a:srgbClr val="FFC000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</a:rPr>
              <a:t>CONCEPTS COVERED</a:t>
            </a:r>
          </a:p>
        </p:txBody>
      </p:sp>
      <p:sp>
        <p:nvSpPr>
          <p:cNvPr id="4099" name="TextBox 2">
            <a:extLst>
              <a:ext uri="{FF2B5EF4-FFF2-40B4-BE49-F238E27FC236}">
                <a16:creationId xmlns:a16="http://schemas.microsoft.com/office/drawing/2014/main" id="{9173B39C-B37E-C7CE-8F8D-4934D86EE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2405063"/>
            <a:ext cx="90805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Thread and block id- pointer to main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Matrix-vector product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Matrix-matrix product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b="1"/>
              <a:t>Tiling and shared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8">
            <a:extLst>
              <a:ext uri="{FF2B5EF4-FFF2-40B4-BE49-F238E27FC236}">
                <a16:creationId xmlns:a16="http://schemas.microsoft.com/office/drawing/2014/main" id="{38CBCCB4-286C-39A2-9128-9CDCBE77D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365125"/>
            <a:ext cx="9302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Blocks and threads</a:t>
            </a:r>
          </a:p>
          <a:p>
            <a:endParaRPr lang="en-US" altLang="en-US" sz="2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D50A9-10E8-E43A-892F-5A82A0216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055688"/>
            <a:ext cx="83597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IN" altLang="en-US" b="1"/>
              <a:t>Threads are organized in blocks of the grid.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Kernel launches all threads in a grid following an SIMT model.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The kernel function is executed as gridsize x blocksize number of times in that many threads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Blocksize and gridsize information is available in the execution configuration myKernel&lt;&lt;&lt;gridsize, blocksize&gt;&gt;&gt;(...)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The variables gridsize and blocksize are of type dim3 and can have three-dimenstions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Block dimension (number of threads in each dimension in a box) is given as: blockDimx.x, blockDimx.y, blockDimx.z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id of a given block in the grid is given as: blockIdx.x, blockIdx.y &amp; blockidx.z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Local thread id (within a block) is given as threadIdx.x, threadIdx.y &amp; threadIdx.z</a:t>
            </a:r>
          </a:p>
          <a:p>
            <a:pPr algn="just">
              <a:spcBef>
                <a:spcPts val="600"/>
              </a:spcBef>
            </a:pPr>
            <a:r>
              <a:rPr lang="en-IN" altLang="en-US" b="1"/>
              <a:t>It might be important to find global thread id for some problems</a:t>
            </a:r>
          </a:p>
        </p:txBody>
      </p:sp>
      <p:pic>
        <p:nvPicPr>
          <p:cNvPr id="5124" name="Picture 10" descr="Grid of Thread Blocks.">
            <a:extLst>
              <a:ext uri="{FF2B5EF4-FFF2-40B4-BE49-F238E27FC236}">
                <a16:creationId xmlns:a16="http://schemas.microsoft.com/office/drawing/2014/main" id="{8DDDF0C6-15BB-B235-F6BD-CED2C0455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3" r="16280" b="3201"/>
          <a:stretch>
            <a:fillRect/>
          </a:stretch>
        </p:blipFill>
        <p:spPr bwMode="auto">
          <a:xfrm>
            <a:off x="8707438" y="1190625"/>
            <a:ext cx="2841625" cy="344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1">
            <a:extLst>
              <a:ext uri="{FF2B5EF4-FFF2-40B4-BE49-F238E27FC236}">
                <a16:creationId xmlns:a16="http://schemas.microsoft.com/office/drawing/2014/main" id="{05C67335-BCDF-02E4-42AA-1FF13C87E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5832475"/>
            <a:ext cx="325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i="1"/>
              <a:t>Source:</a:t>
            </a:r>
          </a:p>
          <a:p>
            <a:r>
              <a:rPr lang="en-US" altLang="en-US" sz="1400" i="1"/>
              <a:t>NVIDIA CUDA programming guide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8">
            <a:extLst>
              <a:ext uri="{FF2B5EF4-FFF2-40B4-BE49-F238E27FC236}">
                <a16:creationId xmlns:a16="http://schemas.microsoft.com/office/drawing/2014/main" id="{B42AB4DD-B28B-3508-47BC-4AD9CD506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76238"/>
            <a:ext cx="9302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Blocks and threads (cont.)</a:t>
            </a:r>
            <a:endParaRPr lang="en-US" altLang="en-US" sz="2800" b="1"/>
          </a:p>
        </p:txBody>
      </p:sp>
      <p:sp>
        <p:nvSpPr>
          <p:cNvPr id="6147" name="TextBox 13">
            <a:extLst>
              <a:ext uri="{FF2B5EF4-FFF2-40B4-BE49-F238E27FC236}">
                <a16:creationId xmlns:a16="http://schemas.microsoft.com/office/drawing/2014/main" id="{95D4EC4E-442A-8A79-EC5E-0FA07E31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852488"/>
            <a:ext cx="11811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2000" b="1"/>
              <a:t>In the example problem of matrix addition, 2D thread id-s are used as pointers to matrix elements in the kernel function 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7CBBC9CD-E9AE-E92D-9AD1-5A0AD20A5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1228725" y="1571625"/>
            <a:ext cx="6381750" cy="3781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485" name="TextBox 4">
            <a:extLst>
              <a:ext uri="{FF2B5EF4-FFF2-40B4-BE49-F238E27FC236}">
                <a16:creationId xmlns:a16="http://schemas.microsoft.com/office/drawing/2014/main" id="{AAFDACDE-AE33-5861-1279-6E7CF327B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6062663"/>
            <a:ext cx="11287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A single block is launched in the grid. So, local thread id is same as the global thread id and points to the location of the matrix column and row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965F2D-3F88-2350-AA66-9F86E8E355B1}"/>
              </a:ext>
            </a:extLst>
          </p:cNvPr>
          <p:cNvSpPr/>
          <p:nvPr/>
        </p:nvSpPr>
        <p:spPr>
          <a:xfrm>
            <a:off x="1577975" y="2339975"/>
            <a:ext cx="2274888" cy="273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30311-9BCE-70F9-3D5C-1E161A890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2286000"/>
            <a:ext cx="4213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1600" i="1">
                <a:solidFill>
                  <a:srgbClr val="C00000"/>
                </a:solidFill>
              </a:rPr>
              <a:t>x</a:t>
            </a:r>
            <a:r>
              <a:rPr lang="en-IN" altLang="en-US" sz="1600">
                <a:solidFill>
                  <a:srgbClr val="C00000"/>
                </a:solidFill>
              </a:rPr>
              <a:t> id of the thread points to matrix row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9E2382-3B8A-AF56-76A5-A6B5CD01AB4A}"/>
              </a:ext>
            </a:extLst>
          </p:cNvPr>
          <p:cNvSpPr/>
          <p:nvPr/>
        </p:nvSpPr>
        <p:spPr>
          <a:xfrm>
            <a:off x="1546225" y="2590800"/>
            <a:ext cx="2274888" cy="271463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9EE4C-421D-93B4-1CB8-AA63BB874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225" y="2536825"/>
            <a:ext cx="4211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1600" i="1">
                <a:solidFill>
                  <a:srgbClr val="00B0F0"/>
                </a:solidFill>
              </a:rPr>
              <a:t>y</a:t>
            </a:r>
            <a:r>
              <a:rPr lang="en-IN" altLang="en-US" sz="1600">
                <a:solidFill>
                  <a:srgbClr val="00B0F0"/>
                </a:solidFill>
              </a:rPr>
              <a:t> id of the thread points to matrix column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B3DDE2-D2E4-23A9-1A3D-EC11F8F1506C}"/>
              </a:ext>
            </a:extLst>
          </p:cNvPr>
          <p:cNvSpPr/>
          <p:nvPr/>
        </p:nvSpPr>
        <p:spPr>
          <a:xfrm>
            <a:off x="1577975" y="2819400"/>
            <a:ext cx="9721850" cy="750888"/>
          </a:xfrm>
          <a:prstGeom prst="roundRect">
            <a:avLst/>
          </a:prstGeom>
          <a:solidFill>
            <a:srgbClr val="B7C66A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r">
              <a:defRPr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thread id is used to point to the memory location which </a:t>
            </a:r>
          </a:p>
          <a:p>
            <a:pPr algn="r">
              <a:defRPr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will be accessed by the particular thread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6" grpId="0" animBg="1"/>
      <p:bldP spid="7" grpId="0"/>
      <p:bldP spid="8" grpId="0" animBg="1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8">
            <a:extLst>
              <a:ext uri="{FF2B5EF4-FFF2-40B4-BE49-F238E27FC236}">
                <a16:creationId xmlns:a16="http://schemas.microsoft.com/office/drawing/2014/main" id="{02AF22FA-2B82-F028-3A7B-49093D5D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Pointing matrix memory location</a:t>
            </a:r>
          </a:p>
          <a:p>
            <a:endParaRPr lang="en-US" altLang="en-US" sz="2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2C082-8FB5-4D4D-F2D2-33130F8E4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4168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2000" b="1"/>
              <a:t>If the gridsize is (1,1,1) [single block]</a:t>
            </a:r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8A0C1805-08A2-4067-6DD9-2A9692E3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38" y="687388"/>
            <a:ext cx="2930525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CA4E4A-1D3F-71E9-94B7-177DFF637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3070225"/>
            <a:ext cx="4168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2000" b="1"/>
              <a:t>For a general two-dimensional grid: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4F3B3D7C-E166-360E-C918-1F130148B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3084513"/>
            <a:ext cx="3422650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0CDE3C-4038-0801-CE74-081214FC0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4071938"/>
            <a:ext cx="4343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Global id of the thread is obtained from the local thread id, local block id and blocksize.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12C06D2A-5682-ECCF-9F4A-EF796DD27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2763" y="5710238"/>
            <a:ext cx="26622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i="1"/>
              <a:t>Courtesy: HBeonGpgpu </a:t>
            </a:r>
            <a:r>
              <a:rPr lang="en-IN" altLang="en-US" sz="1400">
                <a:hlinkClick r:id="rId4"/>
              </a:rPr>
              <a:t>https://pccsgpgpu.webs.com</a:t>
            </a:r>
            <a:endParaRPr lang="en-US" altLang="en-US" sz="14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8">
            <a:extLst>
              <a:ext uri="{FF2B5EF4-FFF2-40B4-BE49-F238E27FC236}">
                <a16:creationId xmlns:a16="http://schemas.microsoft.com/office/drawing/2014/main" id="{5824DD64-82B7-3156-2593-6A1C90F46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2800" b="1">
                <a:solidFill>
                  <a:srgbClr val="0070C0"/>
                </a:solidFill>
              </a:rPr>
              <a:t>Matrix-vector multiplication using CUDA</a:t>
            </a:r>
            <a:endParaRPr lang="en-US" altLang="en-US" sz="2800" b="1"/>
          </a:p>
        </p:txBody>
      </p:sp>
      <p:sp>
        <p:nvSpPr>
          <p:cNvPr id="8195" name="TextBox 7">
            <a:extLst>
              <a:ext uri="{FF2B5EF4-FFF2-40B4-BE49-F238E27FC236}">
                <a16:creationId xmlns:a16="http://schemas.microsoft.com/office/drawing/2014/main" id="{CFA44660-60FC-92F2-86D0-864F24213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998538"/>
            <a:ext cx="943927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IN" altLang="en-US" sz="2000" b="1"/>
              <a:t>Serial subroutine:</a:t>
            </a:r>
          </a:p>
          <a:p>
            <a:pPr algn="just"/>
            <a:endParaRPr lang="en-IN" altLang="en-US" sz="1100" b="1"/>
          </a:p>
        </p:txBody>
      </p:sp>
      <p:pic>
        <p:nvPicPr>
          <p:cNvPr id="6151" name="Picture 7">
            <a:extLst>
              <a:ext uri="{FF2B5EF4-FFF2-40B4-BE49-F238E27FC236}">
                <a16:creationId xmlns:a16="http://schemas.microsoft.com/office/drawing/2014/main" id="{017CC441-FF4F-7AA5-ADD5-5DA840071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195263" y="1431925"/>
            <a:ext cx="4344987" cy="1212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37D40-E5B9-EC4C-8362-B05DC8CC9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2903538"/>
            <a:ext cx="943927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IN" altLang="en-US" sz="2000" b="1"/>
              <a:t>CUDA kernel:</a:t>
            </a:r>
          </a:p>
          <a:p>
            <a:pPr algn="just"/>
            <a:endParaRPr lang="en-IN" altLang="en-US" sz="1100" b="1"/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6B1CF98A-CA65-CC04-CF1E-D070A35E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/>
          <a:stretch>
            <a:fillRect/>
          </a:stretch>
        </p:blipFill>
        <p:spPr bwMode="auto">
          <a:xfrm>
            <a:off x="396875" y="3305175"/>
            <a:ext cx="5405438" cy="2608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B7E3249-85BB-3E82-1DF7-6896E7FE6B23}"/>
              </a:ext>
            </a:extLst>
          </p:cNvPr>
          <p:cNvSpPr/>
          <p:nvPr/>
        </p:nvSpPr>
        <p:spPr>
          <a:xfrm>
            <a:off x="1414463" y="2297113"/>
            <a:ext cx="665162" cy="206375"/>
          </a:xfrm>
          <a:prstGeom prst="ellipse">
            <a:avLst/>
          </a:prstGeom>
          <a:solidFill>
            <a:srgbClr val="5B9BD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CF3316-69ED-DA8C-21F2-AE30E5CA940B}"/>
              </a:ext>
            </a:extLst>
          </p:cNvPr>
          <p:cNvCxnSpPr>
            <a:stCxn id="10" idx="6"/>
          </p:cNvCxnSpPr>
          <p:nvPr/>
        </p:nvCxnSpPr>
        <p:spPr>
          <a:xfrm flipV="1">
            <a:off x="2079625" y="1654175"/>
            <a:ext cx="2840038" cy="746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DB3A02-1357-0C9D-3400-FBD43A35C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988" y="1249363"/>
            <a:ext cx="2765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Put the matrix in a one-d array for coalesced access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133F26-1531-8AAC-49FF-D758D6472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3641725"/>
            <a:ext cx="2089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blocksize = uxu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68916D-2648-BDFA-09FE-36B448366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888" y="4579938"/>
            <a:ext cx="51800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A coalesced  global memory access pattern is followed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780EB6-A82A-0F12-12F3-A4499A4909AE}"/>
              </a:ext>
            </a:extLst>
          </p:cNvPr>
          <p:cNvSpPr/>
          <p:nvPr/>
        </p:nvSpPr>
        <p:spPr>
          <a:xfrm>
            <a:off x="2786063" y="5138738"/>
            <a:ext cx="1546225" cy="238125"/>
          </a:xfrm>
          <a:prstGeom prst="ellipse">
            <a:avLst/>
          </a:prstGeom>
          <a:solidFill>
            <a:srgbClr val="5B9BD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AD9FC9-7680-6998-6CBB-FF5B79C98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8313" y="1112838"/>
            <a:ext cx="3678237" cy="12001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For a 1280X1280 matrix, serial execution in Xeon E5-2620 v4  CPU takes 0.447904 s</a:t>
            </a:r>
          </a:p>
          <a:p>
            <a:r>
              <a:rPr lang="en-IN" altLang="en-US" b="1"/>
              <a:t>P100 GPU (12 GB) takes 0.384960 s</a:t>
            </a:r>
          </a:p>
        </p:txBody>
      </p:sp>
      <p:sp>
        <p:nvSpPr>
          <p:cNvPr id="8206" name="TextBox 17">
            <a:extLst>
              <a:ext uri="{FF2B5EF4-FFF2-40B4-BE49-F238E27FC236}">
                <a16:creationId xmlns:a16="http://schemas.microsoft.com/office/drawing/2014/main" id="{604E3D67-9CAF-9F62-C9F5-DC10EF32D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188" y="5646738"/>
            <a:ext cx="31892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1600" b="1"/>
              <a:t>Courtesy: Mr. Dilip Subbaian 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3" grpId="0"/>
      <p:bldP spid="14" grpId="0"/>
      <p:bldP spid="15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8">
            <a:extLst>
              <a:ext uri="{FF2B5EF4-FFF2-40B4-BE49-F238E27FC236}">
                <a16:creationId xmlns:a16="http://schemas.microsoft.com/office/drawing/2014/main" id="{3C24BBA5-9B22-DDB2-E505-5219A0FE2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Matrix-matrix product </a:t>
            </a:r>
          </a:p>
          <a:p>
            <a:endParaRPr lang="en-US" altLang="en-US" sz="2800" b="1"/>
          </a:p>
        </p:txBody>
      </p:sp>
      <p:pic>
        <p:nvPicPr>
          <p:cNvPr id="7175" name="Picture 7">
            <a:extLst>
              <a:ext uri="{FF2B5EF4-FFF2-40B4-BE49-F238E27FC236}">
                <a16:creationId xmlns:a16="http://schemas.microsoft.com/office/drawing/2014/main" id="{DBFC331B-9FAF-36C3-EDDA-6EC2FEB0A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1916113" y="1144588"/>
            <a:ext cx="4152900" cy="2055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220" name="TextBox 7">
            <a:extLst>
              <a:ext uri="{FF2B5EF4-FFF2-40B4-BE49-F238E27FC236}">
                <a16:creationId xmlns:a16="http://schemas.microsoft.com/office/drawing/2014/main" id="{8B3581F6-10EC-2ABF-F95E-40BEABFC2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89025"/>
            <a:ext cx="1785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CPU function</a:t>
            </a:r>
          </a:p>
        </p:txBody>
      </p:sp>
      <p:pic>
        <p:nvPicPr>
          <p:cNvPr id="7177" name="Picture 9">
            <a:extLst>
              <a:ext uri="{FF2B5EF4-FFF2-40B4-BE49-F238E27FC236}">
                <a16:creationId xmlns:a16="http://schemas.microsoft.com/office/drawing/2014/main" id="{65770ED2-5819-3D57-8EDB-DC844B2FD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20000"/>
          </a:blip>
          <a:srcRect/>
          <a:stretch>
            <a:fillRect/>
          </a:stretch>
        </p:blipFill>
        <p:spPr bwMode="auto">
          <a:xfrm>
            <a:off x="1865313" y="4054475"/>
            <a:ext cx="7599362" cy="2295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222" name="TextBox 10">
            <a:extLst>
              <a:ext uri="{FF2B5EF4-FFF2-40B4-BE49-F238E27FC236}">
                <a16:creationId xmlns:a16="http://schemas.microsoft.com/office/drawing/2014/main" id="{64103552-1CC0-854B-F22D-F3A214C97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3692525"/>
            <a:ext cx="1784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CUDA kernel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EB770-3837-3BB6-87C4-11466E8E0EEA}"/>
              </a:ext>
            </a:extLst>
          </p:cNvPr>
          <p:cNvSpPr txBox="1"/>
          <p:nvPr/>
        </p:nvSpPr>
        <p:spPr>
          <a:xfrm>
            <a:off x="7216775" y="1066800"/>
            <a:ext cx="44196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b="1" dirty="0"/>
              <a:t>Observations: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N" b="1" dirty="0"/>
              <a:t>Large number of memory access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N" b="1" dirty="0"/>
              <a:t>Cache unfriendly access of </a:t>
            </a:r>
            <a:r>
              <a:rPr lang="en-IN" b="1" dirty="0" err="1"/>
              <a:t>bd</a:t>
            </a:r>
            <a:endParaRPr lang="en-IN" b="1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en-IN" b="1" dirty="0"/>
              <a:t>Shared memory and tiling can help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B8333B-074B-757F-FC27-CB6404EE1385}"/>
              </a:ext>
            </a:extLst>
          </p:cNvPr>
          <p:cNvSpPr/>
          <p:nvPr/>
        </p:nvSpPr>
        <p:spPr>
          <a:xfrm>
            <a:off x="7705725" y="5605463"/>
            <a:ext cx="1546225" cy="423862"/>
          </a:xfrm>
          <a:prstGeom prst="ellipse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E920C480-F482-7615-715F-C86E946E4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8"/>
          <a:stretch>
            <a:fillRect/>
          </a:stretch>
        </p:blipFill>
        <p:spPr bwMode="auto">
          <a:xfrm>
            <a:off x="0" y="703263"/>
            <a:ext cx="408463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2">
            <a:extLst>
              <a:ext uri="{FF2B5EF4-FFF2-40B4-BE49-F238E27FC236}">
                <a16:creationId xmlns:a16="http://schemas.microsoft.com/office/drawing/2014/main" id="{67132260-F463-5406-E401-6728A6AE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8"/>
          <a:stretch>
            <a:fillRect/>
          </a:stretch>
        </p:blipFill>
        <p:spPr bwMode="auto">
          <a:xfrm>
            <a:off x="0" y="1073150"/>
            <a:ext cx="408463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TextBox 8">
            <a:extLst>
              <a:ext uri="{FF2B5EF4-FFF2-40B4-BE49-F238E27FC236}">
                <a16:creationId xmlns:a16="http://schemas.microsoft.com/office/drawing/2014/main" id="{2FD5CE87-C243-4A8F-7E37-6F9C4D76C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Matrix-matrix product – tiling and shared memory usage </a:t>
            </a:r>
          </a:p>
          <a:p>
            <a:endParaRPr lang="en-US" altLang="en-US" sz="2800" b="1"/>
          </a:p>
        </p:txBody>
      </p:sp>
      <p:pic>
        <p:nvPicPr>
          <p:cNvPr id="10245" name="Picture 3">
            <a:extLst>
              <a:ext uri="{FF2B5EF4-FFF2-40B4-BE49-F238E27FC236}">
                <a16:creationId xmlns:a16="http://schemas.microsoft.com/office/drawing/2014/main" id="{5D9B1251-6077-B07E-4C59-6C6A405D6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5" y="1333500"/>
            <a:ext cx="4305300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3">
            <a:extLst>
              <a:ext uri="{FF2B5EF4-FFF2-40B4-BE49-F238E27FC236}">
                <a16:creationId xmlns:a16="http://schemas.microsoft.com/office/drawing/2014/main" id="{849A63D8-3FA8-12C4-4C64-A52B10659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5573713"/>
            <a:ext cx="2871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simple matrix multiplication</a:t>
            </a:r>
          </a:p>
        </p:txBody>
      </p:sp>
      <p:sp>
        <p:nvSpPr>
          <p:cNvPr id="10247" name="TextBox 14">
            <a:extLst>
              <a:ext uri="{FF2B5EF4-FFF2-40B4-BE49-F238E27FC236}">
                <a16:creationId xmlns:a16="http://schemas.microsoft.com/office/drawing/2014/main" id="{C7D25551-5969-938E-7288-8A5F89902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607050"/>
            <a:ext cx="44735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matrix multiplication with tiling    tile size matches with block size and fits shared memory</a:t>
            </a:r>
          </a:p>
        </p:txBody>
      </p:sp>
      <p:sp>
        <p:nvSpPr>
          <p:cNvPr id="10248" name="TextBox 15">
            <a:extLst>
              <a:ext uri="{FF2B5EF4-FFF2-40B4-BE49-F238E27FC236}">
                <a16:creationId xmlns:a16="http://schemas.microsoft.com/office/drawing/2014/main" id="{333A3126-06E9-0859-6DDD-F6834F27B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038" y="5151438"/>
            <a:ext cx="24161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1400"/>
              <a:t>Source: NVIDA CUDA Programming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6DAF3915-F078-2A0A-5279-4DFA1AE2F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1277938"/>
            <a:ext cx="67056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Box 8">
            <a:extLst>
              <a:ext uri="{FF2B5EF4-FFF2-40B4-BE49-F238E27FC236}">
                <a16:creationId xmlns:a16="http://schemas.microsoft.com/office/drawing/2014/main" id="{49D4DFC0-4BFA-AA90-07E0-2915A1788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Matrix-matrix product – tiling and shared memory (cont) </a:t>
            </a:r>
          </a:p>
          <a:p>
            <a:endParaRPr lang="en-US" altLang="en-US" sz="2800" b="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946D80-B9C6-0AAA-5C70-6A11CE531A17}"/>
              </a:ext>
            </a:extLst>
          </p:cNvPr>
          <p:cNvCxnSpPr/>
          <p:nvPr/>
        </p:nvCxnSpPr>
        <p:spPr>
          <a:xfrm flipH="1">
            <a:off x="5627688" y="1862138"/>
            <a:ext cx="22225" cy="179546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129AC0-BA6D-BB67-458B-55D22D2F3E0C}"/>
              </a:ext>
            </a:extLst>
          </p:cNvPr>
          <p:cNvCxnSpPr/>
          <p:nvPr/>
        </p:nvCxnSpPr>
        <p:spPr>
          <a:xfrm flipH="1">
            <a:off x="5748338" y="1871663"/>
            <a:ext cx="31750" cy="21018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A5E07A-9E95-4CA1-8014-7A78DA079B5D}"/>
              </a:ext>
            </a:extLst>
          </p:cNvPr>
          <p:cNvCxnSpPr/>
          <p:nvPr/>
        </p:nvCxnSpPr>
        <p:spPr>
          <a:xfrm>
            <a:off x="4321175" y="3592513"/>
            <a:ext cx="132873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5977B4-267C-2483-24B8-1B778E870A4B}"/>
              </a:ext>
            </a:extLst>
          </p:cNvPr>
          <p:cNvCxnSpPr/>
          <p:nvPr/>
        </p:nvCxnSpPr>
        <p:spPr>
          <a:xfrm>
            <a:off x="4376738" y="3919538"/>
            <a:ext cx="132715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B63DB0-90A2-4E10-94E2-1E7C04DF4ED3}"/>
              </a:ext>
            </a:extLst>
          </p:cNvPr>
          <p:cNvCxnSpPr/>
          <p:nvPr/>
        </p:nvCxnSpPr>
        <p:spPr>
          <a:xfrm flipV="1">
            <a:off x="4441825" y="4005263"/>
            <a:ext cx="1817688" cy="333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6E7DBF-1E78-CB80-085A-F078633EE2E6}"/>
              </a:ext>
            </a:extLst>
          </p:cNvPr>
          <p:cNvCxnSpPr/>
          <p:nvPr/>
        </p:nvCxnSpPr>
        <p:spPr>
          <a:xfrm flipV="1">
            <a:off x="4300538" y="3679825"/>
            <a:ext cx="1817687" cy="317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240EF2-785F-6D20-CA53-B5669E058898}"/>
              </a:ext>
            </a:extLst>
          </p:cNvPr>
          <p:cNvCxnSpPr/>
          <p:nvPr/>
        </p:nvCxnSpPr>
        <p:spPr>
          <a:xfrm flipH="1">
            <a:off x="6129338" y="1927225"/>
            <a:ext cx="20637" cy="179546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9DDC9A-F904-4BDD-484C-3E9B7C3E9100}"/>
              </a:ext>
            </a:extLst>
          </p:cNvPr>
          <p:cNvCxnSpPr/>
          <p:nvPr/>
        </p:nvCxnSpPr>
        <p:spPr>
          <a:xfrm flipH="1">
            <a:off x="6248400" y="1938338"/>
            <a:ext cx="33338" cy="210026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DE7DDA-7C7E-EA1C-4C00-DF87B1A5605B}"/>
              </a:ext>
            </a:extLst>
          </p:cNvPr>
          <p:cNvCxnSpPr/>
          <p:nvPr/>
        </p:nvCxnSpPr>
        <p:spPr>
          <a:xfrm flipH="1">
            <a:off x="6019800" y="2263775"/>
            <a:ext cx="33338" cy="13938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4BE9AA-DD23-43EF-3606-947A498D7631}"/>
              </a:ext>
            </a:extLst>
          </p:cNvPr>
          <p:cNvCxnSpPr/>
          <p:nvPr/>
        </p:nvCxnSpPr>
        <p:spPr>
          <a:xfrm flipH="1">
            <a:off x="6149975" y="2274888"/>
            <a:ext cx="55563" cy="16652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10A52C-4816-9A90-28F9-8C877FC67B5C}"/>
              </a:ext>
            </a:extLst>
          </p:cNvPr>
          <p:cNvCxnSpPr/>
          <p:nvPr/>
        </p:nvCxnSpPr>
        <p:spPr>
          <a:xfrm flipH="1">
            <a:off x="5737225" y="2373313"/>
            <a:ext cx="31750" cy="13938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251186-A8A0-39F7-5632-323779B39157}"/>
              </a:ext>
            </a:extLst>
          </p:cNvPr>
          <p:cNvCxnSpPr/>
          <p:nvPr/>
        </p:nvCxnSpPr>
        <p:spPr>
          <a:xfrm flipH="1">
            <a:off x="5867400" y="2384425"/>
            <a:ext cx="53975" cy="16652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280" name="TextBox 35">
            <a:extLst>
              <a:ext uri="{FF2B5EF4-FFF2-40B4-BE49-F238E27FC236}">
                <a16:creationId xmlns:a16="http://schemas.microsoft.com/office/drawing/2014/main" id="{EC8E4101-C120-0368-EF15-A4D6AD19E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5233988"/>
            <a:ext cx="3830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1400" i="1"/>
              <a:t>Source: GPU teaching kit, NVIDIA-UIUC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8">
            <a:extLst>
              <a:ext uri="{FF2B5EF4-FFF2-40B4-BE49-F238E27FC236}">
                <a16:creationId xmlns:a16="http://schemas.microsoft.com/office/drawing/2014/main" id="{15EFA7FF-AB1B-0A3E-438E-38619C0C3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Matrix-matrix product – tiling and shared memory optimized </a:t>
            </a:r>
          </a:p>
          <a:p>
            <a:endParaRPr lang="en-US" altLang="en-US" sz="28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16EFAF-BD49-D6E6-C670-B48A3AFA3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7713" y="1208088"/>
            <a:ext cx="44735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Non coalesced [2d array] used for shared memory as the memory size is small, bandwidth is high</a:t>
            </a:r>
          </a:p>
          <a:p>
            <a:endParaRPr lang="en-IN" altLang="en-US" b="1"/>
          </a:p>
          <a:p>
            <a:r>
              <a:rPr lang="en-IN" altLang="en-US" b="1"/>
              <a:t>For 1280 x 1280 matrix</a:t>
            </a:r>
          </a:p>
          <a:p>
            <a:r>
              <a:rPr lang="en-IN" altLang="en-US" b="1"/>
              <a:t>Sequential code takes 214.9249 sec</a:t>
            </a:r>
          </a:p>
          <a:p>
            <a:r>
              <a:rPr lang="en-IN" altLang="en-US" b="1"/>
              <a:t>Optimized CUDA code takes 6.3870 sec</a:t>
            </a:r>
          </a:p>
        </p:txBody>
      </p:sp>
      <p:pic>
        <p:nvPicPr>
          <p:cNvPr id="43010" name="Picture 2">
            <a:extLst>
              <a:ext uri="{FF2B5EF4-FFF2-40B4-BE49-F238E27FC236}">
                <a16:creationId xmlns:a16="http://schemas.microsoft.com/office/drawing/2014/main" id="{936A675F-34BD-FB39-F957-FEBCA3F55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504825" y="1020763"/>
            <a:ext cx="6305550" cy="4838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8">
            <a:extLst>
              <a:ext uri="{FF2B5EF4-FFF2-40B4-BE49-F238E27FC236}">
                <a16:creationId xmlns:a16="http://schemas.microsoft.com/office/drawing/2014/main" id="{0EED650B-C3AE-E82C-F99A-C2001475E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00050"/>
            <a:ext cx="9302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0070C0"/>
                </a:solidFill>
              </a:rPr>
              <a:t>Matrix solvers- performance</a:t>
            </a:r>
            <a:endParaRPr lang="en-US" altLang="en-US" sz="2800" b="1"/>
          </a:p>
        </p:txBody>
      </p:sp>
      <p:sp>
        <p:nvSpPr>
          <p:cNvPr id="13315" name="TextBox 5">
            <a:extLst>
              <a:ext uri="{FF2B5EF4-FFF2-40B4-BE49-F238E27FC236}">
                <a16:creationId xmlns:a16="http://schemas.microsoft.com/office/drawing/2014/main" id="{6860135A-BFD5-EE79-6439-04D5F0AA0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1154113"/>
            <a:ext cx="117125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2000" b="1"/>
              <a:t>In Conjugate gradient or Biconjugate gradient matrix solvers, matrix-vector products are expensive and they are parallelized by calling CUDA kernels.</a:t>
            </a:r>
          </a:p>
          <a:p>
            <a:r>
              <a:rPr lang="en-IN" altLang="en-US" sz="2000" b="1"/>
              <a:t>The performance results (using P100) are: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A6E176-726C-C173-3E17-1B42B27567DA}"/>
              </a:ext>
            </a:extLst>
          </p:cNvPr>
          <p:cNvGraphicFramePr>
            <a:graphicFrameLocks noGrp="1"/>
          </p:cNvGraphicFramePr>
          <p:nvPr/>
        </p:nvGraphicFramePr>
        <p:xfrm>
          <a:off x="296863" y="2525713"/>
          <a:ext cx="2957512" cy="1811337"/>
        </p:xfrm>
        <a:graphic>
          <a:graphicData uri="http://schemas.openxmlformats.org/drawingml/2006/table">
            <a:tbl>
              <a:tblPr/>
              <a:tblGrid>
                <a:gridCol w="821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7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size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CUDA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serial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5000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0.79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19.95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10000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1.96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134.91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20000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7.17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668.8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30000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29.08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1844.44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5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40000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45.77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4259.42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63" marR="68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46" name="TextBox 7">
            <a:extLst>
              <a:ext uri="{FF2B5EF4-FFF2-40B4-BE49-F238E27FC236}">
                <a16:creationId xmlns:a16="http://schemas.microsoft.com/office/drawing/2014/main" id="{3608EA1C-ED23-98E7-B726-21761F1D2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484688"/>
            <a:ext cx="31892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Conjugate gradient solver for symmetric matrix, size as no. of rows, time in seconds</a:t>
            </a:r>
          </a:p>
        </p:txBody>
      </p:sp>
      <p:sp>
        <p:nvSpPr>
          <p:cNvPr id="13347" name="TextBox 8">
            <a:extLst>
              <a:ext uri="{FF2B5EF4-FFF2-40B4-BE49-F238E27FC236}">
                <a16:creationId xmlns:a16="http://schemas.microsoft.com/office/drawing/2014/main" id="{3590B6DE-02B7-81FF-2180-553099960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3" y="4362450"/>
            <a:ext cx="42021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b="1"/>
              <a:t>Different matrix solvers for non-symmetric unstructured matrix, size as no. of rows, time in seconds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3AD12C7-4F6F-AC9A-272C-D11F09528E26}"/>
              </a:ext>
            </a:extLst>
          </p:cNvPr>
          <p:cNvGraphicFramePr>
            <a:graphicFrameLocks noGrp="1"/>
          </p:cNvGraphicFramePr>
          <p:nvPr/>
        </p:nvGraphicFramePr>
        <p:xfrm>
          <a:off x="6024563" y="2524125"/>
          <a:ext cx="4833938" cy="1635126"/>
        </p:xfrm>
        <a:graphic>
          <a:graphicData uri="http://schemas.openxmlformats.org/drawingml/2006/table">
            <a:tbl>
              <a:tblPr/>
              <a:tblGrid>
                <a:gridCol w="66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40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size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BiCGstab</a:t>
                      </a: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 serial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Jacobi serial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BiCGstab</a:t>
                      </a: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 CUDA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Jacobi CUDA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144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0.021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0.029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0.019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0.066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3310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27.91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792.74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0.62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18.01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7705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125.4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9482.46</a:t>
                      </a:r>
                      <a:endParaRPr lang="en-IN" sz="1600" b="1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4.25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Kartika"/>
                        </a:rPr>
                        <a:t>187.24</a:t>
                      </a:r>
                      <a:endParaRPr lang="en-IN" sz="1600" b="1" dirty="0">
                        <a:latin typeface="Calibri"/>
                        <a:ea typeface="Times New Roman"/>
                        <a:cs typeface="Kartika"/>
                      </a:endParaRPr>
                    </a:p>
                  </a:txBody>
                  <a:tcPr marL="68572" marR="68572" marT="0" marB="0" anchor="b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277B79C-903C-5290-3877-B525111B2579}"/>
              </a:ext>
            </a:extLst>
          </p:cNvPr>
          <p:cNvSpPr txBox="1"/>
          <p:nvPr/>
        </p:nvSpPr>
        <p:spPr>
          <a:xfrm>
            <a:off x="209550" y="5676900"/>
            <a:ext cx="92202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</a:rPr>
              <a:t>GPU codes give better speed-up for larger matrices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>
            <a:extLst>
              <a:ext uri="{FF2B5EF4-FFF2-40B4-BE49-F238E27FC236}">
                <a16:creationId xmlns:a16="http://schemas.microsoft.com/office/drawing/2014/main" id="{03B5DA72-01A1-B800-9D7C-2F6BC8B51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839788"/>
            <a:ext cx="6208712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400">
                <a:solidFill>
                  <a:srgbClr val="FFC000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</a:rPr>
              <a:t>REFERENCES</a:t>
            </a:r>
          </a:p>
        </p:txBody>
      </p:sp>
      <p:sp>
        <p:nvSpPr>
          <p:cNvPr id="14339" name="TextBox 2">
            <a:extLst>
              <a:ext uri="{FF2B5EF4-FFF2-40B4-BE49-F238E27FC236}">
                <a16:creationId xmlns:a16="http://schemas.microsoft.com/office/drawing/2014/main" id="{80A3A6CB-BA6D-E595-6745-AD4D06DB3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92300"/>
            <a:ext cx="10229850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altLang="en-US" sz="2000">
                <a:hlinkClick r:id="rId2"/>
              </a:rPr>
              <a:t>https://docs.nvidia.com/cuda/cuda-c-programming-guide/index.html</a:t>
            </a:r>
            <a:endParaRPr lang="en-IN" altLang="en-US" sz="20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altLang="en-US" sz="20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>
                <a:hlinkClick r:id="rId3"/>
              </a:rPr>
              <a:t>https://docs.nvidia.com/cuda/cuda-c-best-practices-guide/index.html</a:t>
            </a:r>
            <a:endParaRPr lang="en-IN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>
            <a:extLst>
              <a:ext uri="{FF2B5EF4-FFF2-40B4-BE49-F238E27FC236}">
                <a16:creationId xmlns:a16="http://schemas.microsoft.com/office/drawing/2014/main" id="{E28204F0-6D9D-3137-844B-E839D2AFB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865188"/>
            <a:ext cx="620871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400">
                <a:solidFill>
                  <a:srgbClr val="FFC000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AE7192EE-36E7-7C5E-5B9F-4C3CE8243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2209800"/>
            <a:ext cx="101123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Calibri Light" panose="020F0302020204030204" pitchFamily="34" charset="0"/>
              <a:buAutoNum type="arabicPeriod"/>
            </a:pPr>
            <a:r>
              <a:rPr lang="en-US" altLang="en-US" sz="2000" b="1"/>
              <a:t>Basic thread algebra for vector and matrix operations showed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en-US" sz="2000" b="1"/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en-US" sz="2000" b="1"/>
              <a:t>Parallelization of matrix products discussed</a:t>
            </a:r>
          </a:p>
          <a:p>
            <a:pPr>
              <a:buFont typeface="Calibri Light" panose="020F0302020204030204" pitchFamily="34" charset="0"/>
              <a:buAutoNum type="arabicPeriod"/>
            </a:pPr>
            <a:endParaRPr lang="en-US" altLang="en-US" sz="2000" b="1"/>
          </a:p>
          <a:p>
            <a:pPr>
              <a:buFont typeface="Calibri Light" panose="020F0302020204030204" pitchFamily="34" charset="0"/>
              <a:buAutoNum type="arabicPeriod"/>
            </a:pPr>
            <a:r>
              <a:rPr lang="en-US" altLang="en-US" sz="2000" b="1"/>
              <a:t>Performance of parallel matrix solvers presented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C7F2459544B74B888A198DA1BB52C2" ma:contentTypeVersion="3" ma:contentTypeDescription="Create a new document." ma:contentTypeScope="" ma:versionID="8cdec97d456710e71893ef7fa2f538ab">
  <xsd:schema xmlns:xsd="http://www.w3.org/2001/XMLSchema" xmlns:xs="http://www.w3.org/2001/XMLSchema" xmlns:p="http://schemas.microsoft.com/office/2006/metadata/properties" xmlns:ns2="2028fc2d-bd6b-46f9-a98e-01c169ef74bf" targetNamespace="http://schemas.microsoft.com/office/2006/metadata/properties" ma:root="true" ma:fieldsID="86faad88310742906890c8fd6a454899" ns2:_="">
    <xsd:import namespace="2028fc2d-bd6b-46f9-a98e-01c169ef74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8fc2d-bd6b-46f9-a98e-01c169ef74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F52F18-1EE7-4D5D-9019-2B79384EBC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1C9D53-539C-499D-976F-C419BFF37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28fc2d-bd6b-46f9-a98e-01c169ef7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16387</TotalTime>
  <Words>648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Reetirupa</dc:creator>
  <cp:lastModifiedBy>Somnath Roy</cp:lastModifiedBy>
  <cp:revision>187</cp:revision>
  <dcterms:created xsi:type="dcterms:W3CDTF">2019-08-13T14:12:34Z</dcterms:created>
  <dcterms:modified xsi:type="dcterms:W3CDTF">2025-11-11T09:32:41Z</dcterms:modified>
</cp:coreProperties>
</file>